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8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EC097-4854-43BC-B189-C26B8B0EDB1E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69D2-9CB7-4340-964E-FECBFA14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891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EC097-4854-43BC-B189-C26B8B0EDB1E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69D2-9CB7-4340-964E-FECBFA14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704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EC097-4854-43BC-B189-C26B8B0EDB1E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69D2-9CB7-4340-964E-FECBFA14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164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EC097-4854-43BC-B189-C26B8B0EDB1E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69D2-9CB7-4340-964E-FECBFA14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206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EC097-4854-43BC-B189-C26B8B0EDB1E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69D2-9CB7-4340-964E-FECBFA14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232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EC097-4854-43BC-B189-C26B8B0EDB1E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69D2-9CB7-4340-964E-FECBFA14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36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EC097-4854-43BC-B189-C26B8B0EDB1E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69D2-9CB7-4340-964E-FECBFA14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219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EC097-4854-43BC-B189-C26B8B0EDB1E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69D2-9CB7-4340-964E-FECBFA14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664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EC097-4854-43BC-B189-C26B8B0EDB1E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69D2-9CB7-4340-964E-FECBFA14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749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EC097-4854-43BC-B189-C26B8B0EDB1E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69D2-9CB7-4340-964E-FECBFA14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559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EC097-4854-43BC-B189-C26B8B0EDB1E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69D2-9CB7-4340-964E-FECBFA14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887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EC097-4854-43BC-B189-C26B8B0EDB1E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69D2-9CB7-4340-964E-FECBFA14A1B8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1493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EC097-4854-43BC-B189-C26B8B0EDB1E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69D2-9CB7-4340-964E-FECBFA14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641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EC097-4854-43BC-B189-C26B8B0EDB1E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69D2-9CB7-4340-964E-FECBFA14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5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EC097-4854-43BC-B189-C26B8B0EDB1E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69D2-9CB7-4340-964E-FECBFA14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562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EC097-4854-43BC-B189-C26B8B0EDB1E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69D2-9CB7-4340-964E-FECBFA14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391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EC097-4854-43BC-B189-C26B8B0EDB1E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69D2-9CB7-4340-964E-FECBFA14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943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6BEC097-4854-43BC-B189-C26B8B0EDB1E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3CA69D2-9CB7-4340-964E-FECBFA14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3796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B016909-619A-9F12-9B66-86BBDFE843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6850" y="349045"/>
            <a:ext cx="9202993" cy="61599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C32E2A-BF5C-7E86-F012-F6BF418752B3}"/>
              </a:ext>
            </a:extLst>
          </p:cNvPr>
          <p:cNvSpPr txBox="1"/>
          <p:nvPr/>
        </p:nvSpPr>
        <p:spPr>
          <a:xfrm>
            <a:off x="78658" y="169295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dirty="0">
                <a:solidFill>
                  <a:srgbClr val="FF0000"/>
                </a:solidFill>
              </a:rPr>
              <a:t>full flow per query</a:t>
            </a:r>
          </a:p>
        </p:txBody>
      </p:sp>
    </p:spTree>
    <p:extLst>
      <p:ext uri="{BB962C8B-B14F-4D97-AF65-F5344CB8AC3E}">
        <p14:creationId xmlns:p14="http://schemas.microsoft.com/office/powerpoint/2010/main" val="1999324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97853A-58E1-A1BC-FDE7-B7342C599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475135"/>
              </p:ext>
            </p:extLst>
          </p:nvPr>
        </p:nvGraphicFramePr>
        <p:xfrm>
          <a:off x="946355" y="2370292"/>
          <a:ext cx="10515600" cy="4114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26007996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56101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562584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 functions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881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models.py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Config + data shapes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PROMPTS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MetricsResult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RAGASScores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SingleResult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9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processors.py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 computation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init_rag()</a:t>
                      </a:r>
                      <a:r>
                        <a:rPr lang="en-US"/>
                        <a:t>,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retrieve()</a:t>
                      </a:r>
                      <a:r>
                        <a:rPr lang="en-US"/>
                        <a:t>,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generate()</a:t>
                      </a:r>
                      <a:r>
                        <a:rPr lang="en-US"/>
                        <a:t>,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heuristic()</a:t>
                      </a:r>
                      <a:r>
                        <a:rPr lang="en-US"/>
                        <a:t>,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run_ragas()</a:t>
                      </a:r>
                      <a:r>
                        <a:rPr lang="en-US"/>
                        <a:t>,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llm_judge_all()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207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main.py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Web app + 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All FastAPI routes, HTML rendering, chart data, final verdict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106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knowledge_base.txt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Knowledge 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60KB of ML/AI domain text — chunked into RAG index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614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queries.txt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 questions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 questions the user can select from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30116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692C1D88-B762-C415-10E4-29050D2DC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446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📁 Which File Does What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801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2CCF16-1D26-4E0F-9D87-928E2CA5098B}"/>
              </a:ext>
            </a:extLst>
          </p:cNvPr>
          <p:cNvSpPr txBox="1"/>
          <p:nvPr/>
        </p:nvSpPr>
        <p:spPr>
          <a:xfrm>
            <a:off x="668594" y="61305"/>
            <a:ext cx="1129726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Each Model Does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phi3:mini</a:t>
            </a:r>
            <a:r>
              <a:rPr lang="en-US" b="1" dirty="0"/>
              <a:t> — the main workhorse</a:t>
            </a:r>
          </a:p>
          <a:p>
            <a:pPr>
              <a:buNone/>
            </a:pPr>
            <a:r>
              <a:rPr lang="en-US" dirty="0"/>
              <a:t>Does </a:t>
            </a:r>
            <a:r>
              <a:rPr lang="en-US" b="1" dirty="0"/>
              <a:t>two jobs</a:t>
            </a:r>
            <a:r>
              <a:rPr lang="en-US" dirty="0"/>
              <a:t>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Answer generation</a:t>
            </a:r>
            <a:r>
              <a:rPr lang="en-US" dirty="0"/>
              <a:t> — given a query + context, generates the actual response for Prompt A and Prompt B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LLM Judge</a:t>
            </a:r>
            <a:r>
              <a:rPr lang="en-US" dirty="0"/>
              <a:t> — separately called again to score both answers on 5 criteria (Accuracy, Clarity, Completeness, Relevance, Usefulness), producing scores 1–5 per criterion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qwen2.5:3b</a:t>
            </a:r>
            <a:r>
              <a:rPr lang="en-US" b="1" dirty="0"/>
              <a:t> — the RAGAS evaluator</a:t>
            </a:r>
          </a:p>
          <a:p>
            <a:pPr>
              <a:buNone/>
            </a:pPr>
            <a:r>
              <a:rPr lang="en-US" dirty="0"/>
              <a:t>Called only for </a:t>
            </a:r>
            <a:r>
              <a:rPr lang="en-US" b="1" dirty="0"/>
              <a:t>RAGAS metric computation</a:t>
            </a:r>
            <a:r>
              <a:rPr lang="en-US" dirty="0"/>
              <a:t>. It is a separate, lighter model used to evaluate answer quality using semantic methods. The reason a separate model is used: you don't want the same model that generated the answer to also judge it — that creates bias.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all-MiniLM-L6-v2</a:t>
            </a:r>
            <a:r>
              <a:rPr lang="en-US" b="1" dirty="0"/>
              <a:t> — the embedding model</a:t>
            </a:r>
          </a:p>
          <a:p>
            <a:pPr>
              <a:buNone/>
            </a:pPr>
            <a:r>
              <a:rPr lang="en-US" dirty="0"/>
              <a:t>Used by </a:t>
            </a:r>
            <a:r>
              <a:rPr lang="en-US" dirty="0">
                <a:latin typeface="Courier New" panose="02070309020205020404" pitchFamily="49" charset="0"/>
              </a:rPr>
              <a:t>sentence-transformers</a:t>
            </a:r>
            <a:r>
              <a:rPr lang="en-US" dirty="0"/>
              <a:t> to convert text into dense vectors. Used twice:</a:t>
            </a:r>
          </a:p>
          <a:p>
            <a:pPr>
              <a:buFont typeface="+mj-lt"/>
              <a:buAutoNum type="arabicPeriod"/>
            </a:pPr>
            <a:r>
              <a:rPr lang="en-US" dirty="0"/>
              <a:t>At startup to embed all knowledge base chunks into </a:t>
            </a:r>
            <a:r>
              <a:rPr lang="en-US" dirty="0" err="1"/>
              <a:t>ChromaDB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At query time to embed the user's query for similarity search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None/>
            </a:pPr>
            <a:r>
              <a:rPr lang="en-US" b="1" dirty="0"/>
              <a:t>Gemini (</a:t>
            </a:r>
            <a:r>
              <a:rPr lang="en-US" b="1" dirty="0">
                <a:latin typeface="Courier New" panose="02070309020205020404" pitchFamily="49" charset="0"/>
              </a:rPr>
              <a:t>gemini-2.5-flash-lite</a:t>
            </a:r>
            <a:r>
              <a:rPr lang="en-US" b="1" dirty="0"/>
              <a:t>) — the fallback</a:t>
            </a:r>
          </a:p>
          <a:p>
            <a:pPr>
              <a:buNone/>
            </a:pPr>
            <a:r>
              <a:rPr lang="en-US" dirty="0"/>
              <a:t>Only activates if </a:t>
            </a:r>
            <a:r>
              <a:rPr lang="en-US" dirty="0">
                <a:latin typeface="Courier New" panose="02070309020205020404" pitchFamily="49" charset="0"/>
              </a:rPr>
              <a:t>qwen2.5:3b</a:t>
            </a:r>
            <a:r>
              <a:rPr lang="en-US" dirty="0"/>
              <a:t> times out or fails during RAGAS scoring. Requires a </a:t>
            </a:r>
            <a:r>
              <a:rPr lang="en-US" dirty="0" err="1">
                <a:latin typeface="Courier New" panose="02070309020205020404" pitchFamily="49" charset="0"/>
              </a:rPr>
              <a:t>Gemini_API_key</a:t>
            </a:r>
            <a:r>
              <a:rPr lang="en-US" dirty="0"/>
              <a:t> in </a:t>
            </a:r>
            <a:r>
              <a:rPr lang="en-US" dirty="0">
                <a:latin typeface="Courier New" panose="02070309020205020404" pitchFamily="49" charset="0"/>
              </a:rPr>
              <a:t>.env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3825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B3FC38C-75C1-9855-2FE7-CE9224ECF9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4940" y="88489"/>
            <a:ext cx="9417060" cy="65974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55F935-10AE-530E-7DA3-7448611C512B}"/>
              </a:ext>
            </a:extLst>
          </p:cNvPr>
          <p:cNvSpPr txBox="1"/>
          <p:nvPr/>
        </p:nvSpPr>
        <p:spPr>
          <a:xfrm>
            <a:off x="-934064" y="88490"/>
            <a:ext cx="41492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rgbClr val="FF0000"/>
                </a:solidFill>
              </a:rPr>
              <a:t>Pipeline workflow</a:t>
            </a:r>
          </a:p>
        </p:txBody>
      </p:sp>
    </p:spTree>
    <p:extLst>
      <p:ext uri="{BB962C8B-B14F-4D97-AF65-F5344CB8AC3E}">
        <p14:creationId xmlns:p14="http://schemas.microsoft.com/office/powerpoint/2010/main" val="1702454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8BAD51C-86F8-2546-5F35-C41894F3C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4404" y="422784"/>
            <a:ext cx="10117392" cy="64352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79D578-8B51-4F3B-3945-53256B9F7576}"/>
              </a:ext>
            </a:extLst>
          </p:cNvPr>
          <p:cNvSpPr txBox="1"/>
          <p:nvPr/>
        </p:nvSpPr>
        <p:spPr>
          <a:xfrm>
            <a:off x="-737419" y="0"/>
            <a:ext cx="3270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2345517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C82963-AB88-A4FE-440A-95A7C247B814}"/>
              </a:ext>
            </a:extLst>
          </p:cNvPr>
          <p:cNvSpPr txBox="1"/>
          <p:nvPr/>
        </p:nvSpPr>
        <p:spPr>
          <a:xfrm>
            <a:off x="186813" y="334296"/>
            <a:ext cx="28632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</a:rPr>
              <a:t>Scoring System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BBDE7EC-4122-D40A-4C52-F448D52AC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4168" y="169606"/>
            <a:ext cx="8996516" cy="619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2919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86</TotalTime>
  <Words>295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Calisto MT</vt:lpstr>
      <vt:lpstr>Courier New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Rupesh C</dc:creator>
  <cp:lastModifiedBy>Rupesh C</cp:lastModifiedBy>
  <cp:revision>1</cp:revision>
  <dcterms:created xsi:type="dcterms:W3CDTF">2026-03-17T13:05:31Z</dcterms:created>
  <dcterms:modified xsi:type="dcterms:W3CDTF">2026-03-17T14:32:31Z</dcterms:modified>
</cp:coreProperties>
</file>